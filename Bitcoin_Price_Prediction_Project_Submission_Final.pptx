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83" r:id="rId2"/>
    <p:sldId id="257" r:id="rId3"/>
    <p:sldId id="282" r:id="rId4"/>
    <p:sldId id="285" r:id="rId5"/>
    <p:sldId id="278" r:id="rId6"/>
    <p:sldId id="279" r:id="rId7"/>
    <p:sldId id="262" r:id="rId8"/>
    <p:sldId id="290" r:id="rId9"/>
    <p:sldId id="291" r:id="rId10"/>
    <p:sldId id="286" r:id="rId11"/>
    <p:sldId id="287" r:id="rId12"/>
    <p:sldId id="280" r:id="rId13"/>
    <p:sldId id="288" r:id="rId14"/>
    <p:sldId id="289" r:id="rId15"/>
    <p:sldId id="292" r:id="rId16"/>
    <p:sldId id="293" r:id="rId17"/>
    <p:sldId id="294" r:id="rId18"/>
    <p:sldId id="295" r:id="rId19"/>
    <p:sldId id="296" r:id="rId20"/>
    <p:sldId id="27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  <p1510:client id="{746EE066-C99A-1548-0111-A8297267F854}" v="733" dt="2026-06-19T08:10:03.439"/>
    <p1510:client id="{86BCD85A-7972-A6FD-263D-01F0C6DCFF46}" v="8" dt="2026-06-19T08:02:34.666"/>
    <p1510:client id="{A6B9108B-7598-1D50-C4AA-8A38026DAEEF}" v="18" dt="2026-06-19T06:56:18.840"/>
    <p1510:client id="{F65B29D0-DD12-DDC3-5CE1-E2A91AABFDBA}" v="57" dt="2026-06-19T08:09:53.82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9T08:10:36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8444 7648 16383 0 0,'10'0'0'0'0,"19"0"0"0"0,19 0 0 0 0,17 0 0 0 0,13 0 0 0 0,8 0 0 0 0,9 0 0 0 0,0 0 0 0 0,-7 0 0 0 0,-9 0 0 0 0,-6 0 0 0 0,-7 0 0 0 0,-3 0 0 0 0,-9 0 0 0 0,-7 0 0 0 0,-2 0 0 0 0,-4 0 0 0 0,-3 0 0 0 0,-3 0 0 0 0,-3 0 0 0 0,-2 0 0 0 0,0 0 0 0 0,-1 0 0 0 0,0 0 0 0 0,0 0 0 0 0,1 0 0 0 0,4 0 0 0 0,8 0 0 0 0,11 0 0 0 0,7 0 0 0 0,8 0 0 0 0,13 0 0 0 0,8 0 0 0 0,10 0 0 0 0,17 0 0 0 0,10 0 0 0 0,-1 0 0 0 0,-2 0 0 0 0,-7 0 0 0 0,-2 0 0 0 0,-6 0 0 0 0,-6 0 0 0 0,-5 0 0 0 0,-14 0 0 0 0,-6 0 0 0 0,-5 0 0 0 0,-1 0 0 0 0,3 0 0 0 0,5 0 0 0 0,9 0 0 0 0,9 0 0 0 0,9 0 0 0 0,22 0 0 0 0,14 0 0 0 0,9 0 0 0 0,-1 0 0 0 0,-2 0 0 0 0,-4 0 0 0 0,-7 0 0 0 0,-7 0 0 0 0,-5 0 0 0 0,-3 0 0 0 0,-3 0 0 0 0,-5 0 0 0 0,-8 0 0 0 0,-6 0 0 0 0,-6 0 0 0 0,3 0 0 0 0,-1 0 0 0 0,-1 0 0 0 0,-2 0 0 0 0,-1 0 0 0 0,-7 0 0 0 0,4 0 0 0 0,0 0 0 0 0,2 0 0 0 0,-1 0 0 0 0,1 0 0 0 0,-6 0 0 0 0,-7 0 0 0 0,4 0 0 0 0,-7 0 0 0 0,-12 0 0 0 0,-11 0 0 0 0,-9 0 0 0 0,-7 0 0 0 0,-5 0 0 0 0,-2 0 0 0 0,-1 0 0 0 0,-1 0 0 0 0,1 0 0 0 0,0 0 0 0 0,1 0 0 0 0,11 0 0 0 0,3 0 0 0 0,4 0 0 0 0,10 0 0 0 0,11 0 0 0 0,8 0 0 0 0,7 0 0 0 0,14 0 0 0 0,7 0 0 0 0,0 0 0 0 0,-3 0 0 0 0,-12 0 0 0 0,-12 0 0 0 0,-9 0 0 0 0,-6 0 0 0 0,-8 0 0 0 0,-3 0 0 0 0,-6 0 0 0 0,-4 0 0 0 0,-5 0 0 0 0,-4 0 0 0 0,-1 0 0 0 0,-2 0 0 0 0,0 0 0 0 0,0 0 0 0 0,0 0 0 0 0,0 0 0 0 0,5 0 0 0 0,12 0 0 0 0,4 0 0 0 0,-2 0 0 0 0,-4 0 0 0 0,-5 0 0 0 0,-3 0 0 0 0,-3 0 0 0 0,-2 0 0 0 0,-2 0 0 0 0,0 0 0 0 0,0 0 0 0 0,0 0 0 0 0,0 0 0 0 0,1 0 0 0 0,4 0 0 0 0,3 0 0 0 0,-6 0 0 0 0,-3 0 0 0 0,-1 0 0 0 0,-5 0 0 0 0,-1 0 0 0 0,1 0 0 0 0,1 0 0 0 0,2 0 0 0 0,3 0 0 0 0,-10 0 0 0 0,-12 0 0 0 0,-13 0 0 0 0,-9 0 0 0 0,-8 0 0 0 0,-5 0 0 0 0,-2 0 0 0 0,-6 0 0 0 0,-3 0 0 0 0,2 0 0 0 0,2 0 0 0 0,1 0 0 0 0,2 0 0 0 0,-3 0 0 0 0,-6 0 0 0 0,-11 0 0 0 0,-7 0 0 0 0,-18 0 0 0 0,-16 0 0 0 0,-13 0 0 0 0,-8 0 0 0 0,-10 0 0 0 0,-24 0 0 0 0,-18 0 0 0 0,-5 0 0 0 0,-14 0 0 0 0,-1 0 0 0 0,1 0 0 0 0,12 0 0 0 0,0 0 0 0 0,-1 0 0 0 0,-1 0 0 0 0,-1 0 0 0 0,-6 0 0 0 0,3 0 0 0 0,-8 0 0 0 0,-4 0 0 0 0,-3 0 0 0 0,0 0 0 0 0,3 0 0 0 0,14 0 0 0 0,2 0 0 0 0,11 0 0 0 0,2 0 0 0 0,19 0 0 0 0,4 0 0 0 0,0 0 0 0 0,14 0 0 0 0,13 0 0 0 0,6 0 0 0 0,5 0 0 0 0,-5 0 0 0 0,-4 0 0 0 0,-5 0 0 0 0,4 0 0 0 0,-1 0 0 0 0,0 0 0 0 0,-2 0 0 0 0,3 0 0 0 0,6 0 0 0 0,6 0 0 0 0,4 0 0 0 0,-1 0 0 0 0,0 0 0 0 0,2 0 0 0 0,1 0 0 0 0,2 0 0 0 0,1 0 0 0 0,-4 0 0 0 0,-1 0 0 0 0,11 0 0 0 0,9 0 0 0 0,8 0 0 0 0,5 0 0 0 0,3 0 0 0 0,2 0 0 0 0,6 0 0 0 0,11 0 0 0 0,3 0 0 0 0,3 0 0 0 0,1 0 0 0 0,3 0 0 0 0,6 0 0 0 0,2 0 0 0 0,0 0 0 0 0,4 0 0 0 0,0 0 0 0 0,-1 0 0 0 0,-4 0 0 0 0,-1 0 0 0 0,-3 0 0 0 0,0 0 0 0 0,-2 0 0 0 0,-5 0 0 0 0,-7 0 0 0 0,3 0 0 0 0,4 0 0 0 0,3 0 0 0 0,1 0 0 0 0,6 0 0 0 0,3 0 0 0 0,-1 0 0 0 0,-1 0 0 0 0,-1 0 0 0 0,2 0 0 0 0,2 0 0 0 0,-2 0 0 0 0,4 0 0 0 0,-1 0 0 0 0,4 0 0 0 0,-1 0 0 0 0,-3 0 0 0 0,3 0 0 0 0,-2 0 0 0 0,-7 0 0 0 0,1 0 0 0 0,-1 0 0 0 0,-1 0 0 0 0,0 0 0 0 0,-2 0 0 0 0,0 0 0 0 0,-1 0 0 0 0,1 0 0 0 0,-1 0 0 0 0,0 0 0 0 0,0 0 0 0 0,0 0 0 0 0,5 0 0 0 0,7 0 0 0 0,1 0 0 0 0,-1 0 0 0 0,-3 0 0 0 0,-8 0 0 0 0,6 0 0 0 0,12 0 0 0 0,13 0 0 0 0,11 0 0 0 0,9 0 0 0 0,5 0 0 0 0,4 0 0 0 0,1 0 0 0 0,0 0 0 0 0,0 0 0 0 0,-11 0 0 0 0,-13 0 0 0 0,-14 0 0 0 0,-11 0 0 0 0,-7 0 0 0 0,-5 0 0 0 0,3 0 0 0 0,10 0 0 0 0,14 0 0 0 0,11 0 0 0 0,10 0 0 0 0,7 0 0 0 0,3 0 0 0 0,8 0 0 0 0,7 0 0 0 0,2 0 0 0 0,17 0 0 0 0,10 0 0 0 0,6 0 0 0 0,11 0 0 0 0,9 0 0 0 0,10 0 0 0 0,5 0 0 0 0,4 0 0 0 0,-2 0 0 0 0,-7 0 0 0 0,-6 0 0 0 0,0 0 0 0 0,-8 0 0 0 0,-5 0 0 0 0,-7 0 0 0 0,-13 0 0 0 0,-13 0 0 0 0,-7 0 0 0 0,-6 0 0 0 0,0 0 0 0 0,12 0 0 0 0,12 0 0 0 0,9 0 0 0 0,8 0 0 0 0,8 0 0 0 0,5 0 0 0 0,16 0 0 0 0,8 0 0 0 0,-1 0 0 0 0,-6 0 0 0 0,-2 0 0 0 0,0 0 0 0 0,-4 0 0 0 0,-6 0 0 0 0,1 0 0 0 0,-3 0 0 0 0,-8 0 0 0 0,5 0 0 0 0,7 0 0 0 0,0 0 0 0 0,-7 0 0 0 0,-1 0 0 0 0,-1 0 0 0 0,4 0 0 0 0,9 0 0 0 0,2 0 0 0 0,-7 0 0 0 0,-8 0 0 0 0,-3 0 0 0 0,2 0 0 0 0,0 0 0 0 0,-1 0 0 0 0,-6 0 0 0 0,-3 0 0 0 0,-6 0 0 0 0,-6 0 0 0 0,0 0 0 0 0,-8 0 0 0 0,1 0 0 0 0,-1 0 0 0 0,-2 0 0 0 0,4 0 0 0 0,6 0 0 0 0,-4 0 0 0 0,16 0 0 0 0,4 0 0 0 0,2 0 0 0 0,0 0 0 0 0,1 0 0 0 0,-1 0 0 0 0,10 0 0 0 0,8 0 0 0 0,6 0 0 0 0,-2 0 0 0 0,-5 0 0 0 0,-5 0 0 0 0,-5 0 0 0 0,-4 0 0 0 0,-13 0 0 0 0,-15 0 0 0 0,-9 0 0 0 0,-9 0 0 0 0,-7 0 0 0 0,-6 0 0 0 0,-4 0 0 0 0,3 0 0 0 0,1 0 0 0 0,5 0 0 0 0,10 0 0 0 0,7 0 0 0 0,4 0 0 0 0,-3 0 0 0 0,4 0 0 0 0,1 0 0 0 0,0 0 0 0 0,-6 0 0 0 0,4 0 0 0 0,-5 0 0 0 0,-6 0 0 0 0,-7 0 0 0 0,-5 0 0 0 0,-5 0 0 0 0,-2 0 0 0 0,-1 0 0 0 0,-2 0 0 0 0,-4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9T08:10:36.3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12735 6943 16383 0 0,'91'0'0'0'0,"137"0"0"0"0,85 0 0 0 0,45 0 0 0 0,-7 0 0 0 0,-44 0 0 0 0,-64 0 0 0 0,-62 0 0 0 0,-53 0 0 0 0,-43 0 0 0 0,-25 0 0 0 0,-23 0 0 0 0,-3 0 0 0 0,8 0 0 0 0,12 0 0 0 0,13 0 0 0 0,19 0 0 0 0,16 0 0 0 0,6 0 0 0 0,4 0 0 0 0,-1 0 0 0 0,-4 0 0 0 0,10 0 0 0 0,0 0 0 0 0,0 0 0 0 0,-4 0 0 0 0,-6 0 0 0 0,-1 0 0 0 0,-14 0 0 0 0,-11 0 0 0 0,-6 0 0 0 0,-9 0 0 0 0,-7 0 0 0 0,-8 0 0 0 0,-2 0 0 0 0,-5 0 0 0 0,-4 0 0 0 0,-5 0 0 0 0,3 0 0 0 0,-1 0 0 0 0,-21 0 0 0 0,-34 0 0 0 0,-50 0 0 0 0,-73 0 0 0 0,-59 0 0 0 0,-51 0 0 0 0,-39 0 0 0 0,-35 0 0 0 0,-29 0 0 0 0,-15 0 0 0 0,-1 0 0 0 0,18 0 0 0 0,27 0 0 0 0,34 0 0 0 0,26 0 0 0 0,38 0 0 0 0,41 0 0 0 0,33 0 0 0 0,28 0 0 0 0,13 0 0 0 0,22 0 0 0 0,11 0 0 0 0,13 0 0 0 0,13 0 0 0 0,11 0 0 0 0,7 0 0 0 0,5 0 0 0 0,2 0 0 0 0,1 0 0 0 0,-1 0 0 0 0,1 0 0 0 0,-2 0 0 0 0,1 0 0 0 0,-2 0 0 0 0,11 0 0 0 0,13 0 0 0 0,33 0 0 0 0,37 0 0 0 0,38 0 0 0 0,53 0 0 0 0,35 0 0 0 0,26 0 0 0 0,22 0 0 0 0,10 0 0 0 0,0 0 0 0 0,-13 0 0 0 0,-15 0 0 0 0,-26 0 0 0 0,-24 0 0 0 0,-32 0 0 0 0,-29 0 0 0 0,-28 0 0 0 0,-23 0 0 0 0,-10 0 0 0 0,-10 0 0 0 0,-20 0 0 0 0,-24 0 0 0 0,-31 0 0 0 0,-45 0 0 0 0,-43 0 0 0 0,-62 0 0 0 0,-50 0 0 0 0,-40 0 0 0 0,-29 0 0 0 0,-8 0 0 0 0,-6 0 0 0 0,5 0 0 0 0,16 0 0 0 0,24 0 0 0 0,27 0 0 0 0,36 0 0 0 0,24 0 0 0 0,39 0 0 0 0,34 0 0 0 0,27 0 0 0 0,23 0 0 0 0,17 0 0 0 0,23 0 0 0 0,25 0 0 0 0,33 0 0 0 0,56 0 0 0 0,49 0 0 0 0,27 0 0 0 0,24 0 0 0 0,17 0 0 0 0,4 0 0 0 0,1 0 0 0 0,-5 0 0 0 0,-17 0 0 0 0,-15 0 0 0 0,-7 0 0 0 0,-12 0 0 0 0,-16 0 0 0 0,-18 0 0 0 0,-13 0 0 0 0,-15 0 0 0 0,-19 0 0 0 0,-16 0 0 0 0,-4 0 0 0 0,-4 0 0 0 0,-18 0 0 0 0,-28 0 0 0 0,-35 0 0 0 0,-34 0 0 0 0,-34 0 0 0 0,-48 0 0 0 0,-33 0 0 0 0,-43 0 0 0 0,-58 0 0 0 0,-43 0 0 0 0,-32 0 0 0 0,-12 0 0 0 0,2 0 0 0 0,22 0 0 0 0,44 0 0 0 0,53 0 0 0 0,38 0 0 0 0,45 0 0 0 0,44 0 0 0 0,33 0 0 0 0,27 0 0 0 0,17 0 0 0 0,12 0 0 0 0,6 0 0 0 0,2 0 0 0 0,-1 0 0 0 0,0 0 0 0 0,-7 0 0 0 0,-3 0 0 0 0,-6 0 0 0 0,-6 0 0 0 0,-6 0 0 0 0,7 0 0 0 0,0 0 0 0 0,-2 0 0 0 0,2 0 0 0 0,3 0 0 0 0,4 0 0 0 0,3 0 0 0 0,8 0 0 0 0,3 0 0 0 0,-4 0 0 0 0,-8 0 0 0 0,-2 0 0 0 0,-1 0 0 0 0,-3 0 0 0 0,1 0 0 0 0,6 0 0 0 0,5 0 0 0 0,2 0 0 0 0,1 0 0 0 0,0 0 0 0 0,5 0 0 0 0,0 0 0 0 0,0 0 0 0 0,3 0 0 0 0,10 0 0 0 0,21 0 0 0 0,25 0 0 0 0,31 0 0 0 0,49 0 0 0 0,46 0 0 0 0,40 0 0 0 0,32 0 0 0 0,21 0 0 0 0,3 0 0 0 0,3 0 0 0 0,-3 0 0 0 0,-20 0 0 0 0,-20 0 0 0 0,-17 0 0 0 0,-22 0 0 0 0,-22 0 0 0 0,-18 0 0 0 0,-16 0 0 0 0,-21 0 0 0 0,-11 0 0 0 0,-12 0 0 0 0,-9 0 0 0 0,-12 0 0 0 0,-11 0 0 0 0,-8 0 0 0 0,-6 0 0 0 0,-4 0 0 0 0,9 0 0 0 0,7 0 0 0 0,6 0 0 0 0,10 0 0 0 0,14 0 0 0 0,10 0 0 0 0,20 0 0 0 0,3 0 0 0 0,7 0 0 0 0,5 0 0 0 0,-8 0 0 0 0,-3 0 0 0 0,5 0 0 0 0,-7 0 0 0 0,-11 0 0 0 0,-13 0 0 0 0,-10 0 0 0 0,-12 0 0 0 0,-12 0 0 0 0,-5 0 0 0 0,-4 0 0 0 0,1 0 0 0 0,3 0 0 0 0,4 0 0 0 0,-1 0 0 0 0,2 0 0 0 0,-4 0 0 0 0,-3 0 0 0 0,-5 0 0 0 0,2 0 0 0 0,4 0 0 0 0,-1 0 0 0 0,4 0 0 0 0,2 0 0 0 0,4 0 0 0 0,-2 0 0 0 0,1 0 0 0 0,1 0 0 0 0,-4 0 0 0 0,1 0 0 0 0,-3 0 0 0 0,-5 0 0 0 0,0 0 0 0 0,-1 0 0 0 0,-3 0 0 0 0,-2 0 0 0 0,-3 0 0 0 0,-2 0 0 0 0,-1 0 0 0 0,-5 0 0 0 0,-8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D317CDF-7DC0-CA5A-918A-D2622AB8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9616B3B-ECE6-F081-F102-9239F316A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21B32430-2A94-BD8A-6648-48A98697D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4060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Machine Learning with IBM Cloud”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783522697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Raj Kumar Gupta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rPr dirty="0"/>
                        <a:t>rajkrgupta8757299494@gmail.com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rPr dirty="0"/>
                        <a:t>+91 </a:t>
                      </a:r>
                      <a:r>
                        <a:rPr lang="en-US" dirty="0"/>
                        <a:t>8340211581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>
            <a:alphaModFix/>
          </a:blip>
          <a:srcRect l="23092" r="26172" b="24847"/>
          <a:stretch>
            <a:fillRect/>
          </a:stretch>
        </p:blipFill>
        <p:spPr>
          <a:xfrm>
            <a:off x="3912577" y="3560886"/>
            <a:ext cx="1099038" cy="12065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Domain of Project – Financial Technology (Cryptocurrency)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Project Title – Bitcoin Price Prediction using Machine Learning and IBM watsonx.ai AutoAI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t>College Name: Amity University Jharkhand</a:t>
            </a:r>
          </a:p>
          <a:p>
            <a:r>
              <a:t>AICTE Student ID: STU6843fe22befb11749286434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08837" y="864646"/>
            <a:ext cx="11357834" cy="55553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t>Problem Statement: Bitcoin Price Prediction using Machine Learning</a:t>
            </a:r>
          </a:p>
          <a:p>
            <a:pPr>
              <a:lnSpc>
                <a:spcPct val="150000"/>
              </a:lnSpc>
            </a:pPr>
            <a:r>
              <a:t>Bitcoin is a highly volatile cryptocurrency. Predicting its price movement is critical for investors, traders, and policymakers to mitigate risk and optimize returns. Due to the high noise and non-linear patterns in financial time-series data, traditional forecasting methods are highly inaccurate and subjective.</a:t>
            </a:r>
            <a:br/>
            <a:br/>
            <a:r>
              <a:t>Your task is to design, build, and evaluate a machine learning regression model that can accurately forecast the Close price of Bitcoin based on historical market indicators (Open, High, Low, Volume, and time-series lag/rolling features). The goal is to build a reliable predictive model that can assist in trading decisions and risk assessment.</a:t>
            </a:r>
          </a:p>
          <a:p>
            <a:pPr fontAlgn="base">
              <a:lnSpc>
                <a:spcPct val="150000"/>
              </a:lnSpc>
            </a:pPr>
            <a:endParaRPr lang="en-US"/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351954" y="401529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23880" y="674734"/>
            <a:ext cx="11131336" cy="55753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000" b="1"/>
              <a:t> (IBM watsonx.ai Studio – </a:t>
            </a:r>
            <a:r>
              <a:rPr lang="en-US" sz="2000" b="1" err="1"/>
              <a:t>AutoAI</a:t>
            </a:r>
            <a:r>
              <a:rPr lang="en-US" sz="2000" b="1"/>
              <a:t>):</a:t>
            </a:r>
            <a:endParaRPr lang="en-US" b="1"/>
          </a:p>
          <a:p>
            <a:pPr>
              <a:lnSpc>
                <a:spcPct val="150000"/>
              </a:lnSpc>
            </a:pPr>
            <a:r>
              <a:rPr lang="en-US" sz="2000"/>
              <a:t>We propose an AI-powered NSAP Scheme Recommendation System using </a:t>
            </a:r>
            <a:r>
              <a:rPr lang="en-US" sz="2000" b="1"/>
              <a:t>IBM watsonx.ai Studio</a:t>
            </a:r>
            <a:r>
              <a:rPr lang="en-US" sz="2000"/>
              <a:t> and </a:t>
            </a:r>
            <a:r>
              <a:rPr lang="en-US" sz="2000" b="1" err="1"/>
              <a:t>AutoAI</a:t>
            </a:r>
            <a:r>
              <a:rPr lang="en-US" sz="2000"/>
              <a:t>.</a:t>
            </a:r>
            <a:br>
              <a:rPr lang="en-US" sz="2000"/>
            </a:br>
            <a:r>
              <a:rPr lang="en-US" sz="2000"/>
              <a:t> Applicant demographic and socio-economic data (age, gender, income, disability status, marital status, BPL status, etc.) will be collected and uploaded to watsonx.ai.</a:t>
            </a:r>
            <a:br>
              <a:rPr lang="en-US" sz="2000"/>
            </a:br>
            <a:r>
              <a:rPr lang="en-US" sz="2000"/>
              <a:t> </a:t>
            </a:r>
            <a:r>
              <a:rPr lang="en-US" sz="2000" b="1" err="1"/>
              <a:t>AutoAI</a:t>
            </a:r>
            <a:r>
              <a:rPr lang="en-US" sz="2000"/>
              <a:t> will automatically perform data preprocessing, feature engineering, algorithm selection, and hyperparameter optimization.</a:t>
            </a:r>
            <a:br>
              <a:rPr lang="en-US" sz="2000"/>
            </a:br>
            <a:r>
              <a:rPr lang="en-US" sz="2000"/>
              <a:t> Multiple classification models will be generated and evaluated to identify the best-performing model for NSAP scheme prediction.</a:t>
            </a:r>
            <a:br>
              <a:rPr lang="en-US" sz="2000"/>
            </a:br>
            <a:r>
              <a:rPr lang="en-US" sz="2000"/>
              <a:t> The selected model will classify applicants into appropriate NSAP schemes such as pension schemes for elderly persons, widows, and persons with disabilities.</a:t>
            </a:r>
            <a:br>
              <a:rPr lang="en-US" sz="2000"/>
            </a:br>
            <a:r>
              <a:rPr lang="en-US" sz="200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158538" y="203047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0162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t>IBM Cloud &amp; watsonx.ai Studio – Provides the infrastructure to build, train, deploy, and scale machine learning models. IBM Cloud enables a reliable, secure, and scalable environment for deploying our prediction endpoints.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t>ML Algorithm/ Model Used: AutoAI Optimized Random Forest and Gradient Boosting Regressors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t>Accuracy / Performance Obtained: R² Score: 98.2% | RMSE: $684.50 | MAE: $412.30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t>Enhancements and Hyperparameter tuning: AutoAI automated feature engineering (lag features, rolling averages), HPO-1 hyperparameter optimization, and ensemble pipeline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Training Screenshots-</a:t>
            </a:r>
            <a:endParaRPr sz="2400" b="1">
              <a:sym typeface="Times New Roman"/>
            </a:endParaRPr>
          </a:p>
        </p:txBody>
      </p:sp>
      <p:pic>
        <p:nvPicPr>
          <p:cNvPr id="3" name="Picture 2" descr="Screenshot 2026-06-27 1153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1036015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Best Model Screenshot:</a:t>
            </a:r>
          </a:p>
        </p:txBody>
      </p:sp>
      <p:pic>
        <p:nvPicPr>
          <p:cNvPr id="3" name="Picture 2" descr="Screenshot 2026-06-27 1155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103601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E69E7BF-BEF2-458E-692A-A750B748D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56959763-B5B5-22E5-733E-B3F05D391F6B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Testing Screenshot:</a:t>
            </a:r>
          </a:p>
        </p:txBody>
      </p:sp>
      <p:pic>
        <p:nvPicPr>
          <p:cNvPr id="3" name="Picture 2" descr="Screenshot 2026-06-27 1206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1036015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56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DC2F13-C09F-1D50-6289-15F22A1D77FA}"/>
              </a:ext>
            </a:extLst>
          </p:cNvPr>
          <p:cNvSpPr txBox="1"/>
          <p:nvPr/>
        </p:nvSpPr>
        <p:spPr>
          <a:xfrm>
            <a:off x="414759" y="207380"/>
            <a:ext cx="281650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Calibri"/>
              </a:rPr>
              <a:t>Testing Screenshot: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6" name="Picture 5" descr="Screenshot 2026-06-27 1207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9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0769628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har char="•"/>
            </a:pPr>
            <a:r>
              <a:rPr lang="en-IN" sz="1800"/>
              <a:t>The solution automates NSAP scheme identification, reducing manual verification efforts and processing time. </a:t>
            </a:r>
            <a:endParaRPr lang="en-US"/>
          </a:p>
          <a:p>
            <a:pPr marL="285750" indent="-285750">
              <a:buChar char="•"/>
            </a:pPr>
            <a:r>
              <a:rPr lang="en-IN" sz="1800"/>
              <a:t>It uses </a:t>
            </a:r>
            <a:r>
              <a:rPr lang="en-IN" sz="1800" b="1"/>
              <a:t>IBM watsonx.ai </a:t>
            </a:r>
            <a:r>
              <a:rPr lang="en-IN" sz="1800" b="1" err="1"/>
              <a:t>AutoAI</a:t>
            </a:r>
            <a:r>
              <a:rPr lang="en-IN" sz="1800"/>
              <a:t> to automatically discover the best machine learning model without extensive coding. </a:t>
            </a:r>
            <a:endParaRPr lang="en-IN"/>
          </a:p>
          <a:p>
            <a:pPr marL="285750" indent="-285750">
              <a:buChar char="•"/>
            </a:pPr>
            <a:r>
              <a:rPr lang="en-IN" sz="1800"/>
              <a:t>The system can accurately classify applicants into multiple NSAP welfare schemes through a single intelligent platform. </a:t>
            </a:r>
            <a:endParaRPr lang="en-IN"/>
          </a:p>
          <a:p>
            <a:pPr marL="285750" indent="-285750">
              <a:buChar char="•"/>
            </a:pPr>
            <a:r>
              <a:rPr lang="en-IN" sz="1800"/>
              <a:t>Automated feature engineering helps identify hidden patterns in socio-economic and demographic data. </a:t>
            </a:r>
            <a:endParaRPr lang="en-IN"/>
          </a:p>
          <a:p>
            <a:pPr marL="285750" indent="-285750">
              <a:buChar char="•"/>
            </a:pPr>
            <a:r>
              <a:rPr lang="en-IN" sz="1800"/>
              <a:t>The model ensures consistent and unbiased scheme allocation, minimizing human errors and subjective decisions.</a:t>
            </a:r>
            <a:endParaRPr lang="en-IN"/>
          </a:p>
          <a:p>
            <a:endParaRPr lang="en-IN" sz="1800" b="1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https://github.com/MR-ROGUE01/bitcoin-price-prediction</a:t>
            </a:r>
            <a:endParaRPr lang="en-US" sz="185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latin typeface="Times New Roman"/>
                <a:ea typeface="Times New Roman"/>
                <a:cs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Data.csv file, 2) yourproblemstatement.pdf file  3) your project presntation.pptx file 4) Python Notebook downloaded from IBM Cloud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50">
                <a:solidFill>
                  <a:srgbClr val="2B3541"/>
                </a:solidFill>
              </a:rPr>
              <a:t>The system can be integrated with government portals to automate the end-to-end NSAP application verification process. 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50">
                <a:solidFill>
                  <a:srgbClr val="2B3541"/>
                </a:solidFill>
              </a:rPr>
              <a:t>Additional welfare schemes can be included, enabling a unified AI-based beneficiary recommendation platform. 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50">
                <a:solidFill>
                  <a:srgbClr val="2B3541"/>
                </a:solidFill>
              </a:rPr>
              <a:t>Real-time data integration with Aadhaar and other government databases can improve eligibility validation and fraud detection. 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50">
                <a:solidFill>
                  <a:srgbClr val="2B3541"/>
                </a:solidFill>
              </a:rPr>
              <a:t>Advanced AI models in IBM watsonx.ai can be used to continuously improve prediction accuracy as new data becomes available. 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850">
                <a:solidFill>
                  <a:srgbClr val="2B3541"/>
                </a:solidFill>
              </a:rPr>
              <a:t>The solution can be scaled nationwide to support faster, transparent, and data-driven welfare distribution across multiple social security programs</a:t>
            </a:r>
            <a:endParaRPr lang="en-US"/>
          </a:p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None/>
            </a:pPr>
            <a:endParaRPr lang="en-US" sz="1850" b="1">
              <a:solidFill>
                <a:srgbClr val="2B3541"/>
              </a:solidFill>
              <a:latin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C488599-1CDB-6479-4ED5-FDEEC38049D9}"/>
                  </a:ext>
                </a:extLst>
              </p14:cNvPr>
              <p14:cNvContentPartPr/>
              <p14:nvPr/>
            </p14:nvContentPartPr>
            <p14:xfrm>
              <a:off x="3048334" y="3639298"/>
              <a:ext cx="3513095" cy="16098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C488599-1CDB-6479-4ED5-FDEEC38049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30337" y="2834398"/>
                <a:ext cx="3548730" cy="16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6AD5D31-EDA5-2C50-7CE9-7D1E60A89F54}"/>
                  </a:ext>
                </a:extLst>
              </p14:cNvPr>
              <p14:cNvContentPartPr/>
              <p14:nvPr/>
            </p14:nvContentPartPr>
            <p14:xfrm>
              <a:off x="3338890" y="3210002"/>
              <a:ext cx="3042822" cy="16098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6AD5D31-EDA5-2C50-7CE9-7D1E60A89F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20892" y="2405102"/>
                <a:ext cx="3078459" cy="16098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 descr="credly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1645920"/>
            <a:ext cx="8531352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7" name="Picture 6" descr="ibm_b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531352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qua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53135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cy_ge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53135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cy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53135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53135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llm_ba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53135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Microsoft Office PowerPoint</Application>
  <PresentationFormat>Widescreen</PresentationFormat>
  <Paragraphs>59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Raj kr Gupta</cp:lastModifiedBy>
  <cp:revision>3</cp:revision>
  <dcterms:created xsi:type="dcterms:W3CDTF">2025-07-08T05:06:56Z</dcterms:created>
  <dcterms:modified xsi:type="dcterms:W3CDTF">2026-07-11T09:15:14Z</dcterms:modified>
</cp:coreProperties>
</file>